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Josefin Sans"/>
      <p:regular r:id="rId37"/>
      <p:bold r:id="rId38"/>
      <p:italic r:id="rId39"/>
      <p:boldItalic r:id="rId40"/>
    </p:embeddedFont>
    <p:embeddedFont>
      <p:font typeface="PT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osefinSans-boldItalic.fntdata"/><Relationship Id="rId20" Type="http://schemas.openxmlformats.org/officeDocument/2006/relationships/slide" Target="slides/slide15.xml"/><Relationship Id="rId42" Type="http://schemas.openxmlformats.org/officeDocument/2006/relationships/font" Target="fonts/PTSans-bold.fntdata"/><Relationship Id="rId41" Type="http://schemas.openxmlformats.org/officeDocument/2006/relationships/font" Target="fonts/PTSans-regular.fntdata"/><Relationship Id="rId22" Type="http://schemas.openxmlformats.org/officeDocument/2006/relationships/slide" Target="slides/slide17.xml"/><Relationship Id="rId44" Type="http://schemas.openxmlformats.org/officeDocument/2006/relationships/font" Target="fonts/PTSans-boldItalic.fntdata"/><Relationship Id="rId21" Type="http://schemas.openxmlformats.org/officeDocument/2006/relationships/slide" Target="slides/slide16.xml"/><Relationship Id="rId43" Type="http://schemas.openxmlformats.org/officeDocument/2006/relationships/font" Target="fonts/PTSans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JosefinSans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JosefinSans-italic.fntdata"/><Relationship Id="rId16" Type="http://schemas.openxmlformats.org/officeDocument/2006/relationships/slide" Target="slides/slide11.xml"/><Relationship Id="rId38" Type="http://schemas.openxmlformats.org/officeDocument/2006/relationships/font" Target="fonts/Josefin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Tēnā koutou e ngā mana whenua, e ngā karangatanga maha o te wāhi nei.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78f51c7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b78f51c7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b78f51c78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b78f51c78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go over these in depth, to see how it is applied.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b78f51c78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b78f51c78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b78f51c78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b78f51c78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b78f51c78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b78f51c78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b78f51c78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b78f51c78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b78f51c78b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b78f51c78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b78f51c78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b78f51c78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b78f51c78b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b78f51c78b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b78f51c78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b78f51c78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b78f51c78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b78f51c78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b78f51c78b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b78f51c78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b78f51c78b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b78f51c78b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b78f51c78b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b78f51c78b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b78f51c78b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b78f51c78b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b78f51c78b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b78f51c78b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b78f51c78b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b78f51c78b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b78f51c78b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b78f51c78b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b78f51c78b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b78f51c78b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b78f51c78b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b78f51c78b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b78f51c78b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b78f51c78b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b78f51c78b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b78f51c78b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b78f51c78b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b78f51c78b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b78f51c78b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b78f51c78b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b78f51c78b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b78f51c78b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b78f51c78b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b78f51c78b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b78f51c78b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b78f51c78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b78f51c78b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2b78f51c78b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b78f51c78b_0_3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2b78f51c78b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b78f51c78b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b78f51c78b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11.png"/><Relationship Id="rId13" Type="http://schemas.openxmlformats.org/officeDocument/2006/relationships/image" Target="../media/image19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jp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15" Type="http://schemas.openxmlformats.org/officeDocument/2006/relationships/image" Target="../media/image4.png"/><Relationship Id="rId14" Type="http://schemas.openxmlformats.org/officeDocument/2006/relationships/image" Target="../media/image2.png"/><Relationship Id="rId17" Type="http://schemas.openxmlformats.org/officeDocument/2006/relationships/image" Target="../media/image8.png"/><Relationship Id="rId16" Type="http://schemas.openxmlformats.org/officeDocument/2006/relationships/image" Target="../media/image13.png"/><Relationship Id="rId5" Type="http://schemas.openxmlformats.org/officeDocument/2006/relationships/image" Target="../media/image7.png"/><Relationship Id="rId19" Type="http://schemas.openxmlformats.org/officeDocument/2006/relationships/image" Target="../media/image6.png"/><Relationship Id="rId6" Type="http://schemas.openxmlformats.org/officeDocument/2006/relationships/image" Target="../media/image15.jpg"/><Relationship Id="rId18" Type="http://schemas.openxmlformats.org/officeDocument/2006/relationships/image" Target="../media/image9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SustainOSS and University OSPOs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Richard Littauer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SustainOSS?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A community of people trying to figure out how to keep OSS sustainable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Conferences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Working groups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Podcasts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1175" y="257175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sustainability applies in FOSS: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Projects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Developers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Communities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Businesses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Academia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Ecosystems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Environment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Projects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Growth</a:t>
            </a:r>
            <a:endParaRPr sz="22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More in than out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Pathways to maintainer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Product management and design planning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Goal: capturing market share of attention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Projects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" sz="2300">
                <a:solidFill>
                  <a:schemeClr val="dk1"/>
                </a:solidFill>
              </a:rPr>
              <a:t>Diversity</a:t>
            </a:r>
            <a:endParaRPr sz="23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Welcoming community spaces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CoCs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Documentation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Moderation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Mentoring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Goal: towards some ethical destination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Projects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" sz="2400">
                <a:solidFill>
                  <a:schemeClr val="dk1"/>
                </a:solidFill>
              </a:rPr>
              <a:t>Funding</a:t>
            </a:r>
            <a:endParaRPr sz="24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Funding for the project costs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Funding for the core maintainers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Lifestyle funding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Funding for all contributors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Non-fiscal sponsorships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Developers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Satisfaction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Career trajectories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Mentoring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Funds and recognition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Avoiding burnout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Communities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Not always tied to a project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Functionally similar to what we talked about above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Businesses and Corporate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Focus: a bottom line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Not pushing OSS onto your employee's private time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Having advocates and marketing inside the company for open source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OSPOs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"Collaboration"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Impact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en" sz="2500">
                <a:solidFill>
                  <a:schemeClr val="dk1"/>
                </a:solidFill>
              </a:rPr>
              <a:t>€65 to €95 billion to the European Union’s GDP (OFE)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273144"/>
              </a:buClr>
              <a:buSzPts val="2500"/>
              <a:buChar char="-"/>
            </a:pPr>
            <a:r>
              <a:rPr lang="en" sz="2500">
                <a:solidFill>
                  <a:srgbClr val="273144"/>
                </a:solidFill>
              </a:rPr>
              <a:t>2024: The Value of Open Source Software by Manuel Hoffmann, Frank Nagle, Yanuo Zhou</a:t>
            </a:r>
            <a:endParaRPr sz="2500">
              <a:solidFill>
                <a:srgbClr val="273144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rgbClr val="273144"/>
              </a:buClr>
              <a:buSzPts val="2500"/>
              <a:buFont typeface="PT Sans"/>
              <a:buChar char="-"/>
            </a:pPr>
            <a:r>
              <a:rPr lang="en" sz="2500">
                <a:solidFill>
                  <a:schemeClr val="dk1"/>
                </a:solidFill>
              </a:rPr>
              <a:t>Supply-side value (cost to re-create) is </a:t>
            </a:r>
            <a:r>
              <a:rPr b="1" lang="en" sz="2500">
                <a:solidFill>
                  <a:srgbClr val="00AF92"/>
                </a:solidFill>
              </a:rPr>
              <a:t>$4.15bn</a:t>
            </a:r>
            <a:endParaRPr b="1" sz="2500">
              <a:solidFill>
                <a:srgbClr val="00AF92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rgbClr val="00AF92"/>
              </a:buClr>
              <a:buSzPts val="2500"/>
              <a:buFont typeface="PT Sans"/>
              <a:buChar char="-"/>
            </a:pPr>
            <a:r>
              <a:rPr lang="en" sz="2500">
                <a:solidFill>
                  <a:schemeClr val="dk1"/>
                </a:solidFill>
              </a:rPr>
              <a:t>Demand-side (usage) value is </a:t>
            </a:r>
            <a:r>
              <a:rPr b="1" lang="en" sz="2500">
                <a:solidFill>
                  <a:srgbClr val="00AF92"/>
                </a:solidFill>
              </a:rPr>
              <a:t>$8.8tr</a:t>
            </a:r>
            <a:endParaRPr b="1" sz="2500">
              <a:solidFill>
                <a:srgbClr val="00AF92"/>
              </a:solidFill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rgbClr val="00AF92"/>
              </a:buClr>
              <a:buSzPts val="2500"/>
              <a:buFont typeface="PT Sans"/>
              <a:buChar char="-"/>
            </a:pPr>
            <a:r>
              <a:rPr lang="en" sz="2500">
                <a:solidFill>
                  <a:schemeClr val="dk1"/>
                </a:solidFill>
              </a:rPr>
              <a:t>Firms would need to spend </a:t>
            </a:r>
            <a:r>
              <a:rPr b="1" lang="en" sz="2500">
                <a:solidFill>
                  <a:srgbClr val="00AF92"/>
                </a:solidFill>
              </a:rPr>
              <a:t>3.5 times </a:t>
            </a:r>
            <a:r>
              <a:rPr lang="en" sz="2500">
                <a:solidFill>
                  <a:schemeClr val="dk1"/>
                </a:solidFill>
              </a:rPr>
              <a:t>more on software than currently, if OSS did not exist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Ecosystem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Funding maintainers for their work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Security and supply chains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The "digital commons"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Ecosystem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" sz="2300">
                <a:solidFill>
                  <a:schemeClr val="dk1"/>
                </a:solidFill>
              </a:rPr>
              <a:t>Legal sustainability and licenses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" sz="2300">
                <a:solidFill>
                  <a:schemeClr val="dk1"/>
                </a:solidFill>
              </a:rPr>
              <a:t>Stopping proliferation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" sz="2300">
                <a:solidFill>
                  <a:schemeClr val="dk1"/>
                </a:solidFill>
              </a:rPr>
              <a:t>Open washing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" sz="2300">
                <a:solidFill>
                  <a:schemeClr val="dk1"/>
                </a:solidFill>
              </a:rPr>
              <a:t>Patent issues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" sz="2300">
                <a:solidFill>
                  <a:schemeClr val="dk1"/>
                </a:solidFill>
              </a:rPr>
              <a:t>AI + open source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" sz="2300">
                <a:solidFill>
                  <a:schemeClr val="dk1"/>
                </a:solidFill>
              </a:rPr>
              <a:t>Taxation and infrastructural funding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" sz="2300">
                <a:solidFill>
                  <a:schemeClr val="dk1"/>
                </a:solidFill>
              </a:rPr>
              <a:t>The CRA and their ilk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Ecosystem</a:t>
            </a:r>
            <a:endParaRPr/>
          </a:p>
        </p:txBody>
      </p:sp>
      <p:pic>
        <p:nvPicPr>
          <p:cNvPr id="128" name="Google Shape;1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688" y="1017725"/>
            <a:ext cx="5094630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&amp; Environment</a:t>
            </a:r>
            <a:endParaRPr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Open source hardware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Carbon-neutral data storage centers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Reducing server costs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Not using bitcoin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Avoiding the conference trap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Sustain: FOSS &amp; the whole environment</a:t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Tech for environmental activists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Tech for environmental studies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Use of tech for the planet as a whole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 Academic Working Group</a:t>
            </a:r>
            <a:endParaRPr/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Monthly meetings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25~ average attendance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Mailing list, etc.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 Academia:</a:t>
            </a:r>
            <a:endParaRPr/>
          </a:p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Monthly meetings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25~ average attendance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Mailing list, etc.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as a dependency</a:t>
            </a:r>
            <a:endParaRPr/>
          </a:p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Research software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Underlying open source </a:t>
            </a:r>
            <a:r>
              <a:rPr lang="en" sz="2200">
                <a:solidFill>
                  <a:schemeClr val="dk1"/>
                </a:solidFill>
              </a:rPr>
              <a:t>infrastructure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Risks: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Invisible </a:t>
            </a:r>
            <a:r>
              <a:rPr lang="en" sz="2200">
                <a:solidFill>
                  <a:schemeClr val="dk1"/>
                </a:solidFill>
              </a:rPr>
              <a:t>dependencies</a:t>
            </a:r>
            <a:r>
              <a:rPr lang="en" sz="2200">
                <a:solidFill>
                  <a:schemeClr val="dk1"/>
                </a:solidFill>
              </a:rPr>
              <a:t> are underfunded, undercited, and well… invisible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Software</a:t>
            </a:r>
            <a:endParaRPr/>
          </a:p>
        </p:txBody>
      </p:sp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Research software as a first-order object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Not recognized in the formal academic process for tenure, etc.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Not recognized as a research object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Generally undersupported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ReSA is working on this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Teaching material</a:t>
            </a:r>
            <a:endParaRPr/>
          </a:p>
        </p:txBody>
      </p:sp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Open source as course content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At least one course at JHU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A Masters at Brandeis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Generally rare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Could foster collaboration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Edtech</a:t>
            </a:r>
            <a:endParaRPr/>
          </a:p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OSS used by the institution itself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Researchers often expected to know about this and be able to talk about it fluently, without being supported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spin-outs</a:t>
            </a:r>
            <a:endParaRPr/>
          </a:p>
        </p:txBody>
      </p:sp>
      <p:sp>
        <p:nvSpPr>
          <p:cNvPr id="182" name="Google Shape;18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Commercialization of open source directly, often through hacklabs or IT departments that independently supported students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Can involve direct collaboration (CROSS)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Should be brought up to CRIs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Academia to Business collaborations</a:t>
            </a:r>
            <a:endParaRPr/>
          </a:p>
        </p:txBody>
      </p:sp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Akamai, open source MIT project to public company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SAP and Alliander working with academics on paid collaborations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CROSS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OSS as a research subject</a:t>
            </a:r>
            <a:endParaRPr/>
          </a:p>
        </p:txBody>
      </p:sp>
      <p:sp>
        <p:nvSpPr>
          <p:cNvPr id="194" name="Google Shape;194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1000s of papers on Open Source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Can inform policy around OSS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Related to software preservation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Can influence OSS directly - Michigan and the Linux kernal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OSS as a research object</a:t>
            </a:r>
            <a:endParaRPr/>
          </a:p>
        </p:txBody>
      </p:sp>
      <p:sp>
        <p:nvSpPr>
          <p:cNvPr id="200" name="Google Shape;20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Part of a university's overall research output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Citation File Format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Zenodo DOIs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JOSS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Should be bundled with data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OSS as a target for funding</a:t>
            </a:r>
            <a:endParaRPr/>
          </a:p>
        </p:txBody>
      </p:sp>
      <p:sp>
        <p:nvSpPr>
          <p:cNvPr id="206" name="Google Shape;20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Rhetoric around OSS and collaboration influence the funding landscape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Philanthropy: Sloan, Ford, Etc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Government: "Year of Open Science", NIH directorates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Non-profits: ROpenSci, NumFOCUS, ReSA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Communities: SustainOSS, OSC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OSS venn diagrams</a:t>
            </a:r>
            <a:endParaRPr/>
          </a:p>
        </p:txBody>
      </p:sp>
      <p:sp>
        <p:nvSpPr>
          <p:cNvPr id="212" name="Google Shape;21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"Open" work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Security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Sovereignity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Reproducibility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Maintainer cycles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Supporting OSS in Academia: OSPOs</a:t>
            </a:r>
            <a:endParaRPr/>
          </a:p>
        </p:txBody>
      </p:sp>
      <p:sp>
        <p:nvSpPr>
          <p:cNvPr id="218" name="Google Shape;218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Open Source Program Office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Started at JHU, RIT, CROSS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10+ universities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CURIOSS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978" y="797252"/>
            <a:ext cx="1387865" cy="12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3296" y="949583"/>
            <a:ext cx="1165374" cy="1165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52070" y="961651"/>
            <a:ext cx="1440121" cy="1045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3027" y="847349"/>
            <a:ext cx="2149525" cy="6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9915" y="1790363"/>
            <a:ext cx="1860405" cy="104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66856" y="2171139"/>
            <a:ext cx="1654330" cy="6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4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74513" y="1506403"/>
            <a:ext cx="1075676" cy="1434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49602" y="3217145"/>
            <a:ext cx="1951463" cy="398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4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610941" y="3959719"/>
            <a:ext cx="1193557" cy="108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4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069568" y="4163019"/>
            <a:ext cx="2136600" cy="843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ty of Wisconsin-Madison logo download in SVG or PNG - LogosArchive" id="233" name="Google Shape;233;p4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29615" y="4109521"/>
            <a:ext cx="2572937" cy="873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nn State Refreshes Its Brand Identity With New Shield" id="234" name="Google Shape;234;p41"/>
          <p:cNvPicPr preferRelativeResize="0"/>
          <p:nvPr/>
        </p:nvPicPr>
        <p:blipFill rotWithShape="1">
          <a:blip r:embed="rId14">
            <a:alphaModFix/>
          </a:blip>
          <a:srcRect b="19340" l="6448" r="12945" t="13921"/>
          <a:stretch/>
        </p:blipFill>
        <p:spPr>
          <a:xfrm>
            <a:off x="2926572" y="2114047"/>
            <a:ext cx="2679590" cy="915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dentity - Trinity College Dublin" id="235" name="Google Shape;235;p41"/>
          <p:cNvPicPr preferRelativeResize="0"/>
          <p:nvPr/>
        </p:nvPicPr>
        <p:blipFill rotWithShape="1">
          <a:blip r:embed="rId15">
            <a:alphaModFix/>
          </a:blip>
          <a:srcRect b="0" l="7691" r="8982" t="0"/>
          <a:stretch/>
        </p:blipFill>
        <p:spPr>
          <a:xfrm>
            <a:off x="3675514" y="2920189"/>
            <a:ext cx="2816677" cy="11650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ERN Logo and symbol, meaning, history, PNG, brand" id="236" name="Google Shape;236;p4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014007" y="945160"/>
            <a:ext cx="1186132" cy="1006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ty of Manchester – IBEC – INDONESIA BRITAIN EDUCATION CENTRE" id="237" name="Google Shape;237;p41"/>
          <p:cNvPicPr preferRelativeResize="0"/>
          <p:nvPr/>
        </p:nvPicPr>
        <p:blipFill rotWithShape="1">
          <a:blip r:embed="rId17">
            <a:alphaModFix/>
          </a:blip>
          <a:srcRect b="0" l="22203" r="20246" t="0"/>
          <a:stretch/>
        </p:blipFill>
        <p:spPr>
          <a:xfrm>
            <a:off x="910204" y="4039350"/>
            <a:ext cx="1582734" cy="109698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41"/>
          <p:cNvSpPr txBox="1"/>
          <p:nvPr/>
        </p:nvSpPr>
        <p:spPr>
          <a:xfrm>
            <a:off x="214944" y="76918"/>
            <a:ext cx="6485700" cy="7653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960" u="none" cap="none" strike="noStrike">
                <a:solidFill>
                  <a:srgbClr val="00AF92"/>
                </a:solidFill>
                <a:latin typeface="Josefin Sans"/>
                <a:ea typeface="Josefin Sans"/>
                <a:cs typeface="Josefin Sans"/>
                <a:sym typeface="Josefin Sans"/>
              </a:rPr>
              <a:t>Academic OSPOS</a:t>
            </a:r>
            <a:endParaRPr b="0" i="0" sz="5230" u="none" cap="none" strike="noStrike">
              <a:solidFill>
                <a:srgbClr val="00AF9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239" name="Google Shape;239;p4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078654" y="2920189"/>
            <a:ext cx="1064574" cy="112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53623" y="2852051"/>
            <a:ext cx="1393575" cy="139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 txBox="1"/>
          <p:nvPr/>
        </p:nvSpPr>
        <p:spPr>
          <a:xfrm>
            <a:off x="214944" y="-14367"/>
            <a:ext cx="7623600" cy="8910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0" i="0" lang="en" sz="4960" u="none" cap="none" strike="noStrike">
                <a:solidFill>
                  <a:srgbClr val="00AF92"/>
                </a:solidFill>
                <a:latin typeface="Josefin Sans"/>
                <a:ea typeface="Josefin Sans"/>
                <a:cs typeface="Josefin Sans"/>
                <a:sym typeface="Josefin Sans"/>
              </a:rPr>
              <a:t>University OSPOs</a:t>
            </a:r>
            <a:br>
              <a:rPr b="0" i="0" lang="en" sz="4960" u="none" cap="none" strike="noStrike">
                <a:solidFill>
                  <a:srgbClr val="00AF92"/>
                </a:solidFill>
                <a:latin typeface="Josefin Sans"/>
                <a:ea typeface="Josefin Sans"/>
                <a:cs typeface="Josefin Sans"/>
                <a:sym typeface="Josefin Sans"/>
              </a:rPr>
            </a:br>
            <a:r>
              <a:rPr b="0" i="0" lang="en" sz="3200" u="none" cap="none" strike="noStrike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rPr>
              <a:t>Goals &amp; Activities</a:t>
            </a:r>
            <a:endParaRPr/>
          </a:p>
        </p:txBody>
      </p:sp>
      <p:sp>
        <p:nvSpPr>
          <p:cNvPr id="246" name="Google Shape;246;p42"/>
          <p:cNvSpPr/>
          <p:nvPr/>
        </p:nvSpPr>
        <p:spPr>
          <a:xfrm>
            <a:off x="284135" y="1353521"/>
            <a:ext cx="4197600" cy="17565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AF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2"/>
          <p:cNvSpPr txBox="1"/>
          <p:nvPr/>
        </p:nvSpPr>
        <p:spPr>
          <a:xfrm>
            <a:off x="284135" y="1353520"/>
            <a:ext cx="4081800" cy="16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88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b="1" i="0" lang="en" sz="2000" u="sng" cap="none" strike="noStrike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rPr>
              <a:t>OSS Excellence</a:t>
            </a:r>
            <a:endParaRPr/>
          </a:p>
          <a:p>
            <a:pPr indent="-342900" lvl="0" marL="431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rPr>
              <a:t>OSS Best Practices in university context</a:t>
            </a:r>
            <a:endParaRPr/>
          </a:p>
          <a:p>
            <a:pPr indent="-342900" lvl="0" marL="431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rPr>
              <a:t>OSS License Guidance</a:t>
            </a:r>
            <a:endParaRPr/>
          </a:p>
        </p:txBody>
      </p:sp>
      <p:sp>
        <p:nvSpPr>
          <p:cNvPr id="248" name="Google Shape;248;p42"/>
          <p:cNvSpPr/>
          <p:nvPr/>
        </p:nvSpPr>
        <p:spPr>
          <a:xfrm>
            <a:off x="4662411" y="1353521"/>
            <a:ext cx="4197600" cy="17565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AF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2"/>
          <p:cNvSpPr txBox="1"/>
          <p:nvPr/>
        </p:nvSpPr>
        <p:spPr>
          <a:xfrm>
            <a:off x="4690249" y="1353521"/>
            <a:ext cx="3968100" cy="16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88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b="1" i="0" lang="en" sz="2000" u="sng" cap="none" strike="noStrike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rPr>
              <a:t>Research Impact</a:t>
            </a:r>
            <a:endParaRPr/>
          </a:p>
          <a:p>
            <a:pPr indent="-342900" lvl="0" marL="431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rPr>
              <a:t>Working with Technology Transfer Offices</a:t>
            </a:r>
            <a:endParaRPr/>
          </a:p>
          <a:p>
            <a:pPr indent="-342900" lvl="0" marL="431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rPr>
              <a:t>Working with communities</a:t>
            </a:r>
            <a:endParaRPr/>
          </a:p>
        </p:txBody>
      </p:sp>
      <p:sp>
        <p:nvSpPr>
          <p:cNvPr id="250" name="Google Shape;250;p42"/>
          <p:cNvSpPr/>
          <p:nvPr/>
        </p:nvSpPr>
        <p:spPr>
          <a:xfrm>
            <a:off x="284136" y="3298556"/>
            <a:ext cx="4197600" cy="17565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AF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2"/>
          <p:cNvSpPr txBox="1"/>
          <p:nvPr/>
        </p:nvSpPr>
        <p:spPr>
          <a:xfrm>
            <a:off x="284135" y="3298556"/>
            <a:ext cx="4081800" cy="16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88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b="1" i="0" lang="en" sz="2000" u="sng" cap="none" strike="noStrike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rPr>
              <a:t>Skills &amp; Education</a:t>
            </a:r>
            <a:endParaRPr/>
          </a:p>
          <a:p>
            <a:pPr indent="-342900" lvl="0" marL="431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rPr>
              <a:t>Supporting OSS skills in curricula</a:t>
            </a:r>
            <a:endParaRPr/>
          </a:p>
          <a:p>
            <a:pPr indent="-342900" lvl="0" marL="431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rPr>
              <a:t>Internship Programs</a:t>
            </a:r>
            <a:endParaRPr/>
          </a:p>
        </p:txBody>
      </p:sp>
      <p:sp>
        <p:nvSpPr>
          <p:cNvPr id="252" name="Google Shape;252;p42"/>
          <p:cNvSpPr/>
          <p:nvPr/>
        </p:nvSpPr>
        <p:spPr>
          <a:xfrm>
            <a:off x="4662411" y="3298556"/>
            <a:ext cx="4197600" cy="17565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0AF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2"/>
          <p:cNvSpPr txBox="1"/>
          <p:nvPr/>
        </p:nvSpPr>
        <p:spPr>
          <a:xfrm>
            <a:off x="4662411" y="3298555"/>
            <a:ext cx="3996000" cy="16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88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b="1" i="0" lang="en" sz="2000" u="sng" cap="none" strike="noStrike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rPr>
              <a:t>University Operations</a:t>
            </a:r>
            <a:endParaRPr/>
          </a:p>
          <a:p>
            <a:pPr indent="-342900" lvl="0" marL="431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rPr>
              <a:t>OSPO Operations</a:t>
            </a:r>
            <a:endParaRPr/>
          </a:p>
          <a:p>
            <a:pPr indent="-342900" lvl="0" marL="431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</a:pPr>
            <a:r>
              <a:rPr b="0" i="0" lang="en" sz="2000" u="none" cap="none" strike="noStrike">
                <a:solidFill>
                  <a:schemeClr val="dk2"/>
                </a:solidFill>
                <a:latin typeface="PT Sans"/>
                <a:ea typeface="PT Sans"/>
                <a:cs typeface="PT Sans"/>
                <a:sym typeface="PT Sans"/>
              </a:rPr>
              <a:t>Guidance on OSS Tools &amp; Infrastructure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next?</a:t>
            </a:r>
            <a:endParaRPr/>
          </a:p>
        </p:txBody>
      </p:sp>
      <p:sp>
        <p:nvSpPr>
          <p:cNvPr id="259" name="Google Shape;259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Join us?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" sz="2200">
                <a:solidFill>
                  <a:schemeClr val="dk1"/>
                </a:solidFill>
              </a:rPr>
              <a:t>Or… questions?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Tēnā koutou katoa.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